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arlito" panose="020B0604020202020204" charset="0"/>
      <p:regular r:id="rId13"/>
    </p:embeddedFont>
    <p:embeddedFont>
      <p:font typeface="Carlito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8565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1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08627" cy="6858000"/>
          </a:xfrm>
          <a:prstGeom prst="rect">
            <a:avLst/>
          </a:prstGeom>
          <a:solidFill>
            <a:srgbClr val="F1EFEB"/>
          </a:solidFill>
          <a:ln/>
        </p:spPr>
      </p:sp>
      <p:sp>
        <p:nvSpPr>
          <p:cNvPr id="3" name="Text 1"/>
          <p:cNvSpPr/>
          <p:nvPr/>
        </p:nvSpPr>
        <p:spPr>
          <a:xfrm>
            <a:off x="558786" y="533400"/>
            <a:ext cx="634984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SHOPPING BEHAVIOR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58786" y="2944396"/>
            <a:ext cx="5918052" cy="3017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</a:t>
            </a:r>
            <a:endParaRPr lang="en-US" sz="720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7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Shopping Behavior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58786" y="6112895"/>
            <a:ext cx="634984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3,900 purchases say about loyalty, baskets, products, and growth.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1000"/>
            <a:ext cx="1163290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8100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· THE 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8786" y="655798"/>
            <a:ext cx="11074123" cy="697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00" dirty="0">
                <a:solidFill>
                  <a:srgbClr val="8E005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3,900 purchases reveal a repeat-buyer market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58786" y="1675309"/>
            <a:ext cx="3654334" cy="38100"/>
          </a:xfrm>
          <a:prstGeom prst="roundRect">
            <a:avLst>
              <a:gd name="adj" fmla="val 49999"/>
            </a:avLst>
          </a:prstGeom>
          <a:solidFill>
            <a:srgbClr val="A02B93"/>
          </a:solidFill>
          <a:ln/>
        </p:spPr>
      </p:sp>
      <p:sp>
        <p:nvSpPr>
          <p:cNvPr id="5" name="Shape 3"/>
          <p:cNvSpPr/>
          <p:nvPr/>
        </p:nvSpPr>
        <p:spPr>
          <a:xfrm>
            <a:off x="558786" y="1957884"/>
            <a:ext cx="3488146" cy="46715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2237284"/>
            <a:ext cx="320875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179" y="2548755"/>
            <a:ext cx="2929360" cy="7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5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3,900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38179" y="3416625"/>
            <a:ext cx="2929360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purchases across 25 products, 4 categories, and 50 locations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51725" y="1957884"/>
            <a:ext cx="3488146" cy="46715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631118" y="2237284"/>
            <a:ext cx="320875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TYPICAL BASKET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31118" y="2548755"/>
            <a:ext cx="2929360" cy="7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5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$59.76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4631118" y="3416625"/>
            <a:ext cx="320875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average purchase amount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44663" y="1957884"/>
            <a:ext cx="3488246" cy="4671516"/>
          </a:xfrm>
          <a:prstGeom prst="rect">
            <a:avLst/>
          </a:prstGeom>
          <a:solidFill>
            <a:srgbClr val="8E0058"/>
          </a:solidFill>
          <a:ln/>
        </p:spPr>
      </p:sp>
      <p:sp>
        <p:nvSpPr>
          <p:cNvPr id="14" name="Text 12"/>
          <p:cNvSpPr/>
          <p:nvPr/>
        </p:nvSpPr>
        <p:spPr>
          <a:xfrm>
            <a:off x="8424056" y="2237284"/>
            <a:ext cx="320885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HEADLINE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24056" y="2512759"/>
            <a:ext cx="2929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Loyalty is already present.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424056" y="3536085"/>
            <a:ext cx="2929460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growth question is how to activate it.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55600"/>
            <a:ext cx="1163290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8100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· LOYALTY VS. SUBSCRIPTION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8786" y="630398"/>
            <a:ext cx="11074123" cy="1395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00" dirty="0">
                <a:solidFill>
                  <a:srgbClr val="8E005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Loyal customers dominate the base, but subscriptions lag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58786" y="2224286"/>
            <a:ext cx="6461559" cy="44051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12780" y="2478286"/>
            <a:ext cx="620756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SEGMENTS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780" y="2888555"/>
            <a:ext cx="311142" cy="311150"/>
          </a:xfrm>
          <a:prstGeom prst="roundRect">
            <a:avLst>
              <a:gd name="adj" fmla="val 17143"/>
            </a:avLst>
          </a:prstGeom>
          <a:solidFill>
            <a:srgbClr val="FFCCEE"/>
          </a:solidFill>
          <a:ln w="6350">
            <a:solidFill>
              <a:srgbClr val="E5B2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207" y="2955230"/>
            <a:ext cx="69977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8E0058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94961" y="2788225"/>
            <a:ext cx="5571390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3,116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94961" y="3309271"/>
            <a:ext cx="557139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Loyal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780" y="3790851"/>
            <a:ext cx="311142" cy="311150"/>
          </a:xfrm>
          <a:prstGeom prst="roundRect">
            <a:avLst>
              <a:gd name="adj" fmla="val 17143"/>
            </a:avLst>
          </a:prstGeom>
          <a:solidFill>
            <a:srgbClr val="FFCCEE"/>
          </a:solidFill>
          <a:ln w="6350">
            <a:solidFill>
              <a:srgbClr val="E5B2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207" y="3857526"/>
            <a:ext cx="69977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8E0058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94961" y="3690521"/>
            <a:ext cx="5571390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701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194961" y="4211566"/>
            <a:ext cx="557139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Returning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2780" y="4693146"/>
            <a:ext cx="311142" cy="311150"/>
          </a:xfrm>
          <a:prstGeom prst="roundRect">
            <a:avLst>
              <a:gd name="adj" fmla="val 17143"/>
            </a:avLst>
          </a:prstGeom>
          <a:solidFill>
            <a:srgbClr val="FFCCEE"/>
          </a:solidFill>
          <a:ln w="6350">
            <a:solidFill>
              <a:srgbClr val="E5B2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207" y="4759821"/>
            <a:ext cx="69977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8E0058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94961" y="4592816"/>
            <a:ext cx="5571390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194961" y="5113861"/>
            <a:ext cx="557139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25038" y="2224286"/>
            <a:ext cx="4307871" cy="4405114"/>
          </a:xfrm>
          <a:prstGeom prst="rect">
            <a:avLst/>
          </a:prstGeom>
          <a:solidFill>
            <a:srgbClr val="8E0058"/>
          </a:solidFill>
          <a:ln/>
        </p:spPr>
      </p:sp>
      <p:sp>
        <p:nvSpPr>
          <p:cNvPr id="19" name="Text 17"/>
          <p:cNvSpPr/>
          <p:nvPr/>
        </p:nvSpPr>
        <p:spPr>
          <a:xfrm>
            <a:off x="7579031" y="2478286"/>
            <a:ext cx="405387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SUBSCRIPTION SPLIT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79031" y="2789757"/>
            <a:ext cx="3799884" cy="7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27% </a:t>
            </a:r>
            <a:r>
              <a:rPr lang="en-US" sz="2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Yes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7579031" y="3654052"/>
            <a:ext cx="3799884" cy="7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73% </a:t>
            </a:r>
            <a:r>
              <a:rPr lang="en-US" sz="2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</a:t>
            </a:r>
            <a:endParaRPr lang="en-US" sz="5400" dirty="0"/>
          </a:p>
        </p:txBody>
      </p:sp>
      <p:sp>
        <p:nvSpPr>
          <p:cNvPr id="22" name="Shape 20"/>
          <p:cNvSpPr/>
          <p:nvPr/>
        </p:nvSpPr>
        <p:spPr>
          <a:xfrm>
            <a:off x="7579031" y="4564757"/>
            <a:ext cx="3799884" cy="1905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579031" y="4738191"/>
            <a:ext cx="3799884" cy="1389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85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Non-subscribers contribute $170,436 versus $62,645 from subscribers.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concentrated loyal base signals strong retention to protect; the 27% subscription rate shows room to convert repeat demand into recurring revenue through targeted subscriber benefits.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55600"/>
            <a:ext cx="553706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8100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· CATEGORY MIX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8786" y="630398"/>
            <a:ext cx="4978275" cy="2791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00" dirty="0">
                <a:solidFill>
                  <a:srgbClr val="8E005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Revenue is concentrated in clothing and accessories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58786" y="3620095"/>
            <a:ext cx="4978275" cy="1693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1550"/>
              </a:spcAft>
              <a:buNone/>
            </a:pPr>
            <a:r>
              <a:rPr lang="en-US" sz="1400" dirty="0">
                <a:solidFill>
                  <a:srgbClr val="8E005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Clothing leads revenue, followed by accessories, footwear, and outerwear.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E005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This concentration favors deeper assortment and dependable availability in clothing and accessories. Paired with the age-group distribution, it points to a focused audience strategy: lead with the categories that drive value, then tailor depth and messaging to the strongest customer cohorts.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634" y="683220"/>
            <a:ext cx="4978275" cy="3708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55600"/>
            <a:ext cx="553706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8100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· AGE MIX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8786" y="630398"/>
            <a:ext cx="10976076" cy="2093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00" dirty="0">
                <a:solidFill>
                  <a:srgbClr val="8E005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Young adults are the largest revenue cohort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58786" y="1596730"/>
            <a:ext cx="4868891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8100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Young Adults contribute the most revenue, with a gradual decline across Middle-aged, Adult, and Senior groups.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531" y="3211329"/>
            <a:ext cx="6241408" cy="30949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55600"/>
            <a:ext cx="1163290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8100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05 · DISCOUNT SIGNAL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8786" y="630398"/>
            <a:ext cx="11074123" cy="1395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00" dirty="0">
                <a:solidFill>
                  <a:srgbClr val="8E005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Discounts can lift baskets without defining the whole purchase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58786" y="2224286"/>
            <a:ext cx="4307772" cy="4405114"/>
          </a:xfrm>
          <a:prstGeom prst="rect">
            <a:avLst/>
          </a:prstGeom>
          <a:solidFill>
            <a:srgbClr val="8E0058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503686"/>
            <a:ext cx="402837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HIGH-SPENDING DISCOUNT USERS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8179" y="2815157"/>
            <a:ext cx="3748986" cy="7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839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38179" y="3683028"/>
            <a:ext cx="3748986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customers spent above the $59.76 average while using discounts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171251" y="2224286"/>
            <a:ext cx="6461658" cy="44051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450644" y="2503686"/>
            <a:ext cx="618226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MOST DISCOUNT-DEPENDENT PRODUCTS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50644" y="2796480"/>
          <a:ext cx="5902872" cy="2164311"/>
        </p:xfrm>
        <a:graphic>
          <a:graphicData uri="http://schemas.openxmlformats.org/drawingml/2006/table">
            <a:tbl>
              <a:tblPr/>
              <a:tblGrid>
                <a:gridCol w="3541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1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7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Product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Discount-dependent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7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Hat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50.00%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7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Sneakers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49.66%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7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Coat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49.07%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7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Sweater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48.17%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3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Pants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47.37%</a:t>
                      </a:r>
                      <a:endParaRPr lang="en-US" sz="14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50644" y="5115024"/>
            <a:ext cx="1947814" cy="19050"/>
          </a:xfrm>
          <a:prstGeom prst="roundRect">
            <a:avLst>
              <a:gd name="adj" fmla="val 49999"/>
            </a:avLst>
          </a:prstGeom>
          <a:solidFill>
            <a:srgbClr val="A02B93"/>
          </a:solidFill>
          <a:ln/>
        </p:spPr>
      </p:sp>
      <p:sp>
        <p:nvSpPr>
          <p:cNvPr id="12" name="Text 9"/>
          <p:cNvSpPr/>
          <p:nvPr/>
        </p:nvSpPr>
        <p:spPr>
          <a:xfrm>
            <a:off x="5450644" y="5290074"/>
            <a:ext cx="5902872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Discounting is strongest around selected products, not uniformly across the assortment.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55600"/>
            <a:ext cx="716262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8100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06 · PRODUCT SIGNALS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8786" y="630398"/>
            <a:ext cx="6781630" cy="2093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00" dirty="0">
                <a:solidFill>
                  <a:srgbClr val="8E005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signals split between popularity and satisfaction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58786" y="2922191"/>
            <a:ext cx="2158946" cy="17657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61981" y="3125391"/>
            <a:ext cx="195575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TOP-RATED PRODUCTS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1981" y="3418185"/>
            <a:ext cx="1752556" cy="749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85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Gloves</a:t>
            </a:r>
            <a:r>
              <a:rPr lang="en-US" sz="1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3.86 · </a:t>
            </a:r>
            <a:r>
              <a:rPr lang="en-US" sz="14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Sandals</a:t>
            </a:r>
            <a:r>
              <a:rPr lang="en-US" sz="1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3.84 · </a:t>
            </a:r>
            <a:r>
              <a:rPr lang="en-US" sz="14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Boots</a:t>
            </a:r>
            <a:r>
              <a:rPr lang="en-US" sz="1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3.82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Hat</a:t>
            </a:r>
            <a:r>
              <a:rPr lang="en-US" sz="1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3.80 · </a:t>
            </a:r>
            <a:r>
              <a:rPr lang="en-US" sz="14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Skirt</a:t>
            </a:r>
            <a:r>
              <a:rPr lang="en-US" sz="1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3.78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70128" y="2922191"/>
            <a:ext cx="2158946" cy="17657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073323" y="3125391"/>
            <a:ext cx="195575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BEST-SELLING EXAMPLES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73323" y="3419800"/>
            <a:ext cx="1752556" cy="1066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Jewelry leads accessories; Blouse and Pants lead clothing; Sandals lead footwear; Jacket leads outerwear.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81470" y="2922191"/>
            <a:ext cx="2158946" cy="1765796"/>
          </a:xfrm>
          <a:prstGeom prst="rect">
            <a:avLst/>
          </a:prstGeom>
          <a:solidFill>
            <a:srgbClr val="8E0058"/>
          </a:solidFill>
          <a:ln/>
        </p:spPr>
      </p:sp>
      <p:sp>
        <p:nvSpPr>
          <p:cNvPr id="11" name="Text 9"/>
          <p:cNvSpPr/>
          <p:nvPr/>
        </p:nvSpPr>
        <p:spPr>
          <a:xfrm>
            <a:off x="5384665" y="3125391"/>
            <a:ext cx="195575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OPPORTUNITY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84665" y="3419800"/>
            <a:ext cx="175255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 rating and order volume together when choosing hero products.</a:t>
            </a:r>
            <a:endParaRPr lang="en-US" sz="14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355600"/>
            <a:ext cx="3911502" cy="6223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55600"/>
            <a:ext cx="1163290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8100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07 · SHIPPING SIGNAL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8786" y="630398"/>
            <a:ext cx="11074123" cy="1395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00" dirty="0">
                <a:solidFill>
                  <a:srgbClr val="8E005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Express shipping correlates with a slightly higher basket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58786" y="2224286"/>
            <a:ext cx="5384665" cy="44051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88978" y="2554486"/>
            <a:ext cx="505447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AVERAGE PURCHASE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88978" y="2847280"/>
            <a:ext cx="2285943" cy="1237655"/>
          </a:xfrm>
          <a:prstGeom prst="rect">
            <a:avLst/>
          </a:prstGeom>
          <a:solidFill>
            <a:srgbClr val="F1EFEB"/>
          </a:solidFill>
          <a:ln/>
        </p:spPr>
      </p:sp>
      <p:sp>
        <p:nvSpPr>
          <p:cNvPr id="7" name="Text 5"/>
          <p:cNvSpPr/>
          <p:nvPr/>
        </p:nvSpPr>
        <p:spPr>
          <a:xfrm>
            <a:off x="1117572" y="3078505"/>
            <a:ext cx="182875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$58.46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17572" y="3644630"/>
            <a:ext cx="205734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Standard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27317" y="2847280"/>
            <a:ext cx="2285943" cy="1237655"/>
          </a:xfrm>
          <a:prstGeom prst="rect">
            <a:avLst/>
          </a:prstGeom>
          <a:solidFill>
            <a:srgbClr val="8E0058"/>
          </a:solidFill>
          <a:ln/>
        </p:spPr>
      </p:sp>
      <p:sp>
        <p:nvSpPr>
          <p:cNvPr id="10" name="Text 8"/>
          <p:cNvSpPr/>
          <p:nvPr/>
        </p:nvSpPr>
        <p:spPr>
          <a:xfrm>
            <a:off x="3555911" y="3078505"/>
            <a:ext cx="182875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$60.48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55911" y="3644630"/>
            <a:ext cx="205734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Express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48244" y="2224286"/>
            <a:ext cx="5384665" cy="44051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578435" y="2554486"/>
            <a:ext cx="505447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READ THE SIGNAL CAREFULLY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78435" y="2829962"/>
            <a:ext cx="472428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Speed may be a useful value cue for higher-intent purchases.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578435" y="4353322"/>
            <a:ext cx="1558886" cy="19050"/>
          </a:xfrm>
          <a:prstGeom prst="roundRect">
            <a:avLst>
              <a:gd name="adj" fmla="val 49999"/>
            </a:avLst>
          </a:prstGeom>
          <a:solidFill>
            <a:srgbClr val="A02B93"/>
          </a:solidFill>
          <a:ln/>
        </p:spPr>
      </p:sp>
      <p:sp>
        <p:nvSpPr>
          <p:cNvPr id="16" name="Text 14"/>
          <p:cNvSpPr/>
          <p:nvPr/>
        </p:nvSpPr>
        <p:spPr>
          <a:xfrm>
            <a:off x="6578435" y="4528371"/>
            <a:ext cx="4724282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dataset shows association, not proof that shipping speed causes higher spend.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55600"/>
            <a:ext cx="1163290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8100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08 · CONVERSION POOL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8786" y="630398"/>
            <a:ext cx="11074123" cy="1395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00" dirty="0">
                <a:solidFill>
                  <a:srgbClr val="8E005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Repeat buyers are the bridge to subscription growth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58786" y="2304978"/>
            <a:ext cx="1163290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E005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largest conversion pool is already familiar with the brand.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58786" y="2716709"/>
            <a:ext cx="5384665" cy="3734891"/>
          </a:xfrm>
          <a:prstGeom prst="rect">
            <a:avLst/>
          </a:prstGeom>
          <a:solidFill>
            <a:srgbClr val="8E0058"/>
          </a:solidFill>
          <a:ln/>
        </p:spPr>
      </p:sp>
      <p:sp>
        <p:nvSpPr>
          <p:cNvPr id="6" name="Text 4"/>
          <p:cNvSpPr/>
          <p:nvPr/>
        </p:nvSpPr>
        <p:spPr>
          <a:xfrm>
            <a:off x="863578" y="3021509"/>
            <a:ext cx="507987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REPEAT BUYERS WITH SUBSCRIPTION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3578" y="3344843"/>
            <a:ext cx="4775081" cy="100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958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863578" y="4539186"/>
            <a:ext cx="507987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already converted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8244" y="2716709"/>
            <a:ext cx="5384665" cy="37348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553036" y="3021509"/>
            <a:ext cx="507987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REPEAT BUYERS WITHOUT SUBSCRIPTION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53036" y="3344843"/>
            <a:ext cx="4775081" cy="100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2,518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6553036" y="4539186"/>
            <a:ext cx="507987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larger pool to activate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2236688"/>
            <a:ext cx="1163290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2" dirty="0">
                <a:solidFill>
                  <a:srgbClr val="8100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 · THANK YOU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8786" y="2511486"/>
            <a:ext cx="11074123" cy="697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00" dirty="0">
                <a:solidFill>
                  <a:srgbClr val="8E005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58786" y="3530997"/>
            <a:ext cx="3654334" cy="19050"/>
          </a:xfrm>
          <a:prstGeom prst="roundRect">
            <a:avLst>
              <a:gd name="adj" fmla="val 49999"/>
            </a:avLst>
          </a:prstGeom>
          <a:solidFill>
            <a:srgbClr val="8E0058"/>
          </a:solidFill>
          <a:ln/>
        </p:spPr>
      </p:sp>
      <p:sp>
        <p:nvSpPr>
          <p:cNvPr id="5" name="Text 3"/>
          <p:cNvSpPr/>
          <p:nvPr/>
        </p:nvSpPr>
        <p:spPr>
          <a:xfrm>
            <a:off x="558786" y="3996086"/>
            <a:ext cx="11074123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8E005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Shopping Behavior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58786" y="4561907"/>
            <a:ext cx="1163290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8E005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Questions, reflections, and next steps.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473</Words>
  <Application>Microsoft Office PowerPoint</Application>
  <PresentationFormat>Widescreen</PresentationFormat>
  <Paragraphs>100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Carlito</vt:lpstr>
      <vt:lpstr>Carlito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arun deshmukh</cp:lastModifiedBy>
  <cp:revision>2</cp:revision>
  <dcterms:created xsi:type="dcterms:W3CDTF">2026-10-12T13:41:12Z</dcterms:created>
  <dcterms:modified xsi:type="dcterms:W3CDTF">2026-10-12T13:42:55Z</dcterms:modified>
</cp:coreProperties>
</file>